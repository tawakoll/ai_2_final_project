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914400"/>
            <a:ext cx="2011680" cy="2011680"/>
          </a:xfrm>
          <a:prstGeom prst="ellipse">
            <a:avLst/>
          </a:prstGeom>
          <a:noFill/>
          <a:ln w="13970">
            <a:solidFill>
              <a:srgbClr val="CADC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92440" y="320040"/>
            <a:ext cx="3200400" cy="3200400"/>
          </a:xfrm>
          <a:prstGeom prst="ellipse">
            <a:avLst/>
          </a:prstGeom>
          <a:noFill/>
          <a:ln w="13970">
            <a:solidFill>
              <a:srgbClr val="CADC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80" y="-274320"/>
            <a:ext cx="4389120" cy="4389120"/>
          </a:xfrm>
          <a:prstGeom prst="ellipse">
            <a:avLst/>
          </a:prstGeom>
          <a:noFill/>
          <a:ln w="13970">
            <a:solidFill>
              <a:srgbClr val="CADC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04904" y="1837944"/>
            <a:ext cx="164592" cy="164592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6B4A"/>
                </a:solidFill>
                <a:latin typeface="Calibri"/>
              </a:rPr>
              <a:t>D6-V2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Autonomous Orbital Maintenance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ADCFC"/>
                </a:solidFill>
                <a:latin typeface="Calibri"/>
              </a:rPr>
              <a:t>Tool Management and Payload Transport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9FAED8"/>
                </a:solidFill>
                <a:latin typeface="Calibri"/>
              </a:rPr>
              <a:t>PDDL (Q1) and PDDL+ (Q2) planning models, verified with ENHSP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The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55B6E"/>
                </a:solidFill>
                <a:latin typeface="Calibri"/>
              </a:rPr>
              <a:t>A single free-climbing maintenance robot retrieves, carries, mounts, uses, and returns tools across storage modules and worksites on an orbital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254203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441448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20040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Robot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611880"/>
            <a:ext cx="202996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B6E"/>
                </a:solidFill>
                <a:latin typeface="Calibri"/>
              </a:rPr>
              <a:t>One free-climbing maintenance robot; limited carrying capacity, one mount slot.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2148840"/>
            <a:ext cx="254203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02736" y="2441448"/>
            <a:ext cx="566928" cy="566928"/>
          </a:xfrm>
          <a:prstGeom prst="ellipse">
            <a:avLst/>
          </a:prstGeom>
          <a:solidFill>
            <a:srgbClr val="2E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6" y="320040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3611880"/>
            <a:ext cx="202996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B6E"/>
                </a:solidFill>
                <a:latin typeface="Calibri"/>
              </a:rPr>
              <a:t>Storage modules and worksites, linked by a handrail-network graph.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8" y="2148840"/>
            <a:ext cx="254203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2441448"/>
            <a:ext cx="566928" cy="566928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0040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611880"/>
            <a:ext cx="202996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B6E"/>
                </a:solidFill>
                <a:latin typeface="Calibri"/>
              </a:rPr>
              <a:t>Wrench, drill, camera — each with its own location and (Q2) internal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9952" y="2148840"/>
            <a:ext cx="254203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15984" y="2441448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320040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3611880"/>
            <a:ext cx="202996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B6E"/>
                </a:solidFill>
                <a:latin typeface="Calibri"/>
              </a:rPr>
              <a:t>Each task is tied to a worksite and requires one specific, compatible tool.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B6E"/>
                </a:solidFill>
                <a:latin typeface="Calibri"/>
              </a:rPr>
              <a:t>D6-V2 — Orbital Tool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E"/>
                </a:solidFill>
                <a:latin typeface="Calibri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Q1 — Basic PDDL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55B6E"/>
                </a:solidFill>
                <a:latin typeface="Calibri"/>
              </a:rPr>
              <a:t>Types: robot, location, tool, tool-slot, task. Carrying a tool and having it mounted are kept as separate predicates.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938528" cy="96012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pick-up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tool -&gt; free tool-slot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78608" y="2583180.0"/>
            <a:ext cx="219456" cy="0.0"/>
          </a:xfrm>
          <a:prstGeom prst="line">
            <a:avLst/>
          </a:prstGeom>
          <a:ln w="2794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98064" y="2103120"/>
            <a:ext cx="1938528" cy="96012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move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between connected locations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36592" y="2583180.0"/>
            <a:ext cx="219456" cy="0.0"/>
          </a:xfrm>
          <a:prstGeom prst="line">
            <a:avLst/>
          </a:prstGeom>
          <a:ln w="2794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56048" y="2103120"/>
            <a:ext cx="1938528" cy="960120"/>
          </a:xfrm>
          <a:prstGeom prst="roundRect">
            <a:avLst>
              <a:gd name="adj" fmla="val 14000"/>
            </a:avLst>
          </a:prstGeom>
          <a:solidFill>
            <a:srgbClr val="2E7D8C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mount-tool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tool-slot -&gt; mount slot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94576" y="2583180.0"/>
            <a:ext cx="219456" cy="0.0"/>
          </a:xfrm>
          <a:prstGeom prst="line">
            <a:avLst/>
          </a:prstGeom>
          <a:ln w="2794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14032" y="2103120"/>
            <a:ext cx="1938528" cy="960120"/>
          </a:xfrm>
          <a:prstGeom prst="roundRect">
            <a:avLst>
              <a:gd name="adj" fmla="val 14000"/>
            </a:avLst>
          </a:prstGeom>
          <a:solidFill>
            <a:srgbClr val="FF6B4A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use-tool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task complete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52560" y="2583180.0"/>
            <a:ext cx="219456" cy="0.0"/>
          </a:xfrm>
          <a:prstGeom prst="line">
            <a:avLst/>
          </a:prstGeom>
          <a:ln w="2794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72016" y="2103120"/>
            <a:ext cx="1938528" cy="96012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unmount / return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free capacity again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10881360" cy="1417320"/>
          </a:xfrm>
          <a:prstGeom prst="roundRect">
            <a:avLst>
              <a:gd name="adj" fmla="val 7000"/>
            </a:avLst>
          </a:prstGeom>
          <a:solidFill>
            <a:srgbClr val="F6F8FC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Carrying capacity is modelled directly as data: the number of tool-slot objects declared in a problem instance is the robot's carrying limit — not a separate numeric fluent. This keeps Q1 pure STRIPS while still making scarcity bite.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555B6E"/>
                </a:solidFill>
                <a:latin typeface="Calibri"/>
              </a:rPr>
              <a:t>Q1_ComplexTask.pddl: 3 tools, 2 worksites, only 2 tool-slots → the robot must return a tool mid-route to free a slot before it can fetch the last 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B6E"/>
                </a:solidFill>
                <a:latin typeface="Calibri"/>
              </a:rPr>
              <a:t>D6-V2 — Orbital Tool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E"/>
                </a:solidFill>
                <a:latin typeface="Calibri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Q1 — Problem Instances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" y="18745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Simple instance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231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Calibri"/>
              </a:rPr>
              <a:t>Q1_TrivialTask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461772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–  </a:t>
            </a:r>
            <a:r>
              <a:rPr sz="1350">
                <a:solidFill>
                  <a:srgbClr val="555B6E"/>
                </a:solidFill>
                <a:latin typeface="Calibri"/>
              </a:rPr>
              <a:t>1 tool (wrench), 1 worksite, 1 task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–  </a:t>
            </a:r>
            <a:r>
              <a:rPr sz="1350">
                <a:solidFill>
                  <a:srgbClr val="555B6E"/>
                </a:solidFill>
                <a:latin typeface="Calibri"/>
              </a:rPr>
              <a:t>Baseline sanity check of the action model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1E2761"/>
                </a:solidFill>
                <a:latin typeface="Calibri"/>
              </a:rPr>
              <a:t>–  </a:t>
            </a:r>
            <a:r>
              <a:rPr sz="1350">
                <a:solidFill>
                  <a:srgbClr val="555B6E"/>
                </a:solidFill>
                <a:latin typeface="Calibri"/>
              </a:rPr>
              <a:t>Plan length: 4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5780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7960" y="18745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Non-trivial 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231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2761"/>
                </a:solidFill>
                <a:latin typeface="Calibri"/>
              </a:rPr>
              <a:t>Q1_ComplexTask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017520"/>
            <a:ext cx="461772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FF6B4A"/>
                </a:solidFill>
                <a:latin typeface="Calibri"/>
              </a:rPr>
              <a:t>–  </a:t>
            </a:r>
            <a:r>
              <a:rPr sz="1350">
                <a:solidFill>
                  <a:srgbClr val="555B6E"/>
                </a:solidFill>
                <a:latin typeface="Calibri"/>
              </a:rPr>
              <a:t>3 tools (wrench, drill, camera), 2 worksites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FF6B4A"/>
                </a:solidFill>
                <a:latin typeface="Calibri"/>
              </a:rPr>
              <a:t>–  </a:t>
            </a:r>
            <a:r>
              <a:rPr sz="1350">
                <a:solidFill>
                  <a:srgbClr val="555B6E"/>
                </a:solidFill>
                <a:latin typeface="Calibri"/>
              </a:rPr>
              <a:t>Only 2 tool-slots for 3 tools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FF6B4A"/>
                </a:solidFill>
                <a:latin typeface="Calibri"/>
              </a:rPr>
              <a:t>–  </a:t>
            </a:r>
            <a:r>
              <a:rPr sz="1350">
                <a:solidFill>
                  <a:srgbClr val="555B6E"/>
                </a:solidFill>
                <a:latin typeface="Calibri"/>
              </a:rPr>
              <a:t>Plan length: 21 steps — capacity forces a mid-route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B6E"/>
                </a:solidFill>
                <a:latin typeface="Calibri"/>
              </a:rPr>
              <a:t>D6-V2 — Orbital Tool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E"/>
                </a:solidFill>
                <a:latin typeface="Calibri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Q2 — PDDL+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55B6E"/>
                </a:solidFill>
                <a:latin typeface="Calibri"/>
              </a:rPr>
              <a:t>use-tool is split so wear and heat can accumulate continuously with real elapsed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2103120" cy="82296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start-use-tool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temp ≤ 80° required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2377440"/>
            <a:ext cx="640080" cy="0"/>
          </a:xfrm>
          <a:prstGeom prst="line">
            <a:avLst/>
          </a:prstGeom>
          <a:ln w="2794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429000" y="1691640"/>
            <a:ext cx="2880360" cy="1417320"/>
          </a:xfrm>
          <a:prstGeom prst="roundRect">
            <a:avLst>
              <a:gd name="adj" fmla="val 10000"/>
            </a:avLst>
          </a:prstGeom>
          <a:solidFill>
            <a:srgbClr val="2E7D8C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b="1" sz="1350">
                <a:solidFill>
                  <a:srgbClr val="FFFFFF"/>
                </a:solidFill>
                <a:latin typeface="Calibri"/>
              </a:rPr>
              <a:t>process: wear-and-heat</a:t>
            </a:r>
          </a:p>
          <a:p>
            <a:pPr algn="ctr"/>
            <a:r>
              <a:rPr sz="1100">
                <a:solidFill>
                  <a:srgbClr val="CADCFC"/>
                </a:solidFill>
                <a:latin typeface="Calibri"/>
              </a:rPr>
              <a:t>wear, temperature, usage-duration
all increase continuously (#t)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09360" y="2011680"/>
            <a:ext cx="640080" cy="0"/>
          </a:xfrm>
          <a:prstGeom prst="line">
            <a:avLst/>
          </a:prstGeom>
          <a:ln w="27940">
            <a:solidFill>
              <a:srgbClr val="2E7D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2743200"/>
            <a:ext cx="640080" cy="0"/>
          </a:xfrm>
          <a:prstGeom prst="line">
            <a:avLst/>
          </a:prstGeom>
          <a:ln w="27940">
            <a:solidFill>
              <a:srgbClr val="FF6B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95160" y="1600200"/>
            <a:ext cx="2286000" cy="82296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stop-use-tool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usage-duration ≥ 5 → task-done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2514600"/>
            <a:ext cx="2286000" cy="822960"/>
          </a:xfrm>
          <a:prstGeom prst="roundRect">
            <a:avLst>
              <a:gd name="adj" fmla="val 14000"/>
            </a:avLst>
          </a:prstGeom>
          <a:solidFill>
            <a:srgbClr val="FF6B4A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event: tool-overheats</a:t>
            </a:r>
          </a:p>
          <a:p>
            <a:pPr algn="ctr"/>
            <a:r>
              <a:rPr sz="1050">
                <a:solidFill>
                  <a:srgbClr val="CADCFC"/>
                </a:solidFill>
                <a:latin typeface="Calibri"/>
              </a:rPr>
              <a:t>temperature ≥ 100 → broken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7373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8C"/>
                </a:solidFill>
                <a:latin typeface="Calibri"/>
              </a:rPr>
              <a:t>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6517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FF6B4A"/>
                </a:solidFill>
                <a:latin typeface="Calibri"/>
              </a:rPr>
              <a:t>no repair action → permanent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process: cool-down — while idle, temperature decreases continuously back toward zero.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1042416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–  </a:t>
            </a:r>
            <a:r>
              <a:rPr sz="1300" b="1">
                <a:solidFill>
                  <a:srgbClr val="555B6E"/>
                </a:solidFill>
                <a:latin typeface="Calibri"/>
              </a:rPr>
              <a:t>in-use-for </a:t>
            </a:r>
            <a:r>
              <a:rPr sz="1300">
                <a:solidFill>
                  <a:srgbClr val="555B6E"/>
                </a:solidFill>
                <a:latin typeface="Calibri"/>
              </a:rPr>
              <a:t>binds a running session to the task that opened it — added after testing showed a session could otherwise be closed out under a different task.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–  </a:t>
            </a:r>
            <a:r>
              <a:rPr sz="1300" b="1">
                <a:solidFill>
                  <a:srgbClr val="555B6E"/>
                </a:solidFill>
                <a:latin typeface="Calibri"/>
              </a:rPr>
              <a:t>start-use-tool </a:t>
            </a:r>
            <a:r>
              <a:rPr sz="1300">
                <a:solidFill>
                  <a:srgbClr val="555B6E"/>
                </a:solidFill>
                <a:latin typeface="Calibri"/>
              </a:rPr>
              <a:t>also refuses to run a tool hotter than 80°, forcing a genuine cool-down wait before reuse.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B6E"/>
                </a:solidFill>
                <a:latin typeface="Calibri"/>
              </a:rPr>
              <a:t>D6-V2 — Orbital Tool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E"/>
                </a:solidFill>
                <a:latin typeface="Calibri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Q2 — Problem Instances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2E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2880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761"/>
                </a:solidFill>
                <a:latin typeface="Calibri"/>
              </a:rPr>
              <a:t>Q2_SimpleTask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E"/>
                </a:solidFill>
                <a:latin typeface="Calibri"/>
              </a:rPr>
              <a:t>1 tool, cold start — confirms process/event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E"/>
                </a:solidFill>
                <a:latin typeface="Calibri"/>
              </a:rPr>
              <a:t>mechanics without triggering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46520" y="1828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761"/>
                </a:solidFill>
                <a:latin typeface="Calibri"/>
              </a:rPr>
              <a:t>Q2_ComplexTask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E"/>
                </a:solidFill>
                <a:latin typeface="Calibri"/>
              </a:rPr>
              <a:t>Same shape as Q1_ComplexTask, now with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E"/>
                </a:solidFill>
                <a:latin typeface="Calibri"/>
              </a:rPr>
              <a:t>real-time use and heat.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4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2E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25196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761"/>
                </a:solidFill>
                <a:latin typeface="Calibri"/>
              </a:rPr>
              <a:t>Q2_DurationFeasible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3776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E"/>
                </a:solidFill>
                <a:latin typeface="Calibri"/>
              </a:rPr>
              <a:t>Tool starts warm (70°) — planner must wait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E"/>
                </a:solidFill>
                <a:latin typeface="Calibri"/>
              </a:rPr>
              <a:t>for cool-down before reuse.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4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4EE"/>
            </a:solidFill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4251960"/>
            <a:ext cx="502920" cy="50292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25196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E2761"/>
                </a:solidFill>
                <a:latin typeface="Calibri"/>
              </a:rPr>
              <a:t>Q2_DurationInfeasible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3776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E"/>
                </a:solidFill>
                <a:latin typeface="Calibri"/>
              </a:rPr>
              <a:t>Tool starts already broken — goal is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E"/>
                </a:solidFill>
                <a:latin typeface="Calibri"/>
              </a:rPr>
              <a:t>provably unreachable.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B6E"/>
                </a:solidFill>
                <a:latin typeface="Calibri"/>
              </a:rPr>
              <a:t>D6-V2 — Orbital Tool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E"/>
                </a:solidFill>
                <a:latin typeface="Calibri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Live Demo —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This section runs live in VS Code with ENHSP, driving one instance from its initial state through to the goal.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10881360" cy="2651760"/>
          </a:xfrm>
          <a:prstGeom prst="roundRect">
            <a:avLst>
              <a:gd name="adj" fmla="val 6000"/>
            </a:avLst>
          </a:prstGeom>
          <a:solidFill>
            <a:srgbClr val="0B112E"/>
          </a:solidFill>
          <a:ln>
            <a:noFill/>
          </a:ln>
          <a:effectLst/>
          <a:effectLst>
            <a:outerShdw blurRad="90000" dist="30000" dir="5400000" rotWithShape="0">
              <a:srgbClr val="1E276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2514600"/>
            <a:ext cx="640080" cy="640080"/>
          </a:xfrm>
          <a:prstGeom prst="ellipse">
            <a:avLst/>
          </a:prstGeom>
          <a:solidFill>
            <a:srgbClr val="2E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46888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Full walkthroughs are documented in the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971800"/>
            <a:ext cx="9326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The Report appendix gives the initial state, goal, and complete ENHSP plan for every one of the six instances (Q1 and Q2 alike) — including the Q2_DurationInfeasible case, where ENHSP proves no plan exists rather than timing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CADCFC"/>
                </a:solidFill>
                <a:latin typeface="Calibri"/>
              </a:rPr>
              <a:t>D6-V2 — Orbital Tool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CADCFC"/>
                </a:solidFill>
                <a:latin typeface="Calibri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Reflection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02152" cy="475488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691640"/>
            <a:ext cx="457200" cy="457200"/>
          </a:xfrm>
          <a:prstGeom prst="ellipse">
            <a:avLst/>
          </a:prstGeom>
          <a:solidFill>
            <a:srgbClr val="2E7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Calibri"/>
              </a:rPr>
              <a:t>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295351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2E7D8C"/>
                </a:solidFill>
                <a:latin typeface="Calibri"/>
              </a:rPr>
              <a:t>–  </a:t>
            </a:r>
            <a:r>
              <a:rPr sz="1200">
                <a:solidFill>
                  <a:srgbClr val="555B6E"/>
                </a:solidFill>
                <a:latin typeface="Calibri"/>
              </a:rPr>
              <a:t>Task identity wasn't preserved across start/stop — found via testing, fixed with in-use-for.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2E7D8C"/>
                </a:solidFill>
                <a:latin typeface="Calibri"/>
              </a:rPr>
              <a:t>–  </a:t>
            </a:r>
            <a:r>
              <a:rPr sz="1200">
                <a:solidFill>
                  <a:srgbClr val="555B6E"/>
                </a:solidFill>
                <a:latin typeface="Calibri"/>
              </a:rPr>
              <a:t>Designing a genuinely infeasible (not just unfound) instance without over-engineering.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1417320"/>
            <a:ext cx="3502152" cy="475488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6916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33172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Calibri"/>
              </a:rPr>
              <a:t>Would do differently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880360"/>
            <a:ext cx="295351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–  </a:t>
            </a:r>
            <a:r>
              <a:rPr sz="1200">
                <a:solidFill>
                  <a:srgbClr val="555B6E"/>
                </a:solidFill>
                <a:latin typeface="Calibri"/>
              </a:rPr>
              <a:t>Start with the task-binding predicate from the first draft, not after a bug surfaced.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–  </a:t>
            </a:r>
            <a:r>
              <a:rPr sz="1200">
                <a:solidFill>
                  <a:srgbClr val="555B6E"/>
                </a:solidFill>
                <a:latin typeface="Calibri"/>
              </a:rPr>
              <a:t>Explore optimal (not just satisficing) search to get tighter demonstration plans.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17320"/>
            <a:ext cx="3502152" cy="475488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12700">
            <a:solidFill>
              <a:srgbClr val="E0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84464" y="1691640"/>
            <a:ext cx="457200" cy="457200"/>
          </a:xfrm>
          <a:prstGeom prst="ellipse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233172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Calibri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880360"/>
            <a:ext cx="2953512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FF6B4A"/>
                </a:solidFill>
                <a:latin typeface="Calibri"/>
              </a:rPr>
              <a:t>–  </a:t>
            </a:r>
            <a:r>
              <a:rPr sz="1200">
                <a:solidFill>
                  <a:srgbClr val="555B6E"/>
                </a:solidFill>
                <a:latin typeface="Calibri"/>
              </a:rPr>
              <a:t>No repair action — a broken tool is lost permanently.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FF6B4A"/>
                </a:solidFill>
                <a:latin typeface="Calibri"/>
              </a:rPr>
              <a:t>–  </a:t>
            </a:r>
            <a:r>
              <a:rPr sz="1200">
                <a:solidFill>
                  <a:srgbClr val="555B6E"/>
                </a:solidFill>
                <a:latin typeface="Calibri"/>
              </a:rPr>
              <a:t>move has zero duration; climbing-specific risk isn't modelled.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>
                <a:solidFill>
                  <a:srgbClr val="FF6B4A"/>
                </a:solidFill>
                <a:latin typeface="Calibri"/>
              </a:rPr>
              <a:t>–  </a:t>
            </a:r>
            <a:r>
              <a:rPr sz="1200">
                <a:solidFill>
                  <a:srgbClr val="555B6E"/>
                </a:solidFill>
                <a:latin typeface="Calibri"/>
              </a:rPr>
              <a:t>Single robot only, per the assignment scope.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B6E"/>
                </a:solidFill>
                <a:latin typeface="Calibri"/>
              </a:rPr>
              <a:t>D6-V2 — Orbital Tool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5B6E"/>
                </a:solidFill>
                <a:latin typeface="Calibri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5029200"/>
            <a:ext cx="1463040" cy="1463040"/>
          </a:xfrm>
          <a:prstGeom prst="ellipse">
            <a:avLst/>
          </a:prstGeom>
          <a:noFill/>
          <a:ln w="13970">
            <a:solidFill>
              <a:srgbClr val="CADC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4572000"/>
            <a:ext cx="2377440" cy="2377440"/>
          </a:xfrm>
          <a:prstGeom prst="ellipse">
            <a:avLst/>
          </a:prstGeom>
          <a:noFill/>
          <a:ln w="13970">
            <a:solidFill>
              <a:srgbClr val="CADCFC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Autonomous Orbital Maintenance Platform — Assignment D6-V2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FAED8"/>
                </a:solidFill>
                <a:latin typeface="Calibri"/>
              </a:rPr>
              <a:t>codes/Q1, codes/Q2, codes/Plans — all instances verified with ENHSP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